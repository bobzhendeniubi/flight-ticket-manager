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世途旅行 · Citur Travel  ·  Week 2 Demo  ·  2026-04-29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世途旅行 · Citur Travel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Demo · 内部演示 + 公司测试启动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2286000" cy="0"/>
          </a:xfrm>
          <a:prstGeom prst="line">
            <a:avLst/>
          </a:prstGeom>
          <a:noFill/>
          <a:ln w="508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澳门 ↔ 岘港直飞航线 · 客户 / 代理 / 后台 三视角 SaaS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7607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2026-04-29  ·  Bob Wang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今天的议程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分钟，分三段 + 成本 + Q&amp;A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6636" y="1828800"/>
            <a:ext cx="2011680" cy="2926080"/>
          </a:xfrm>
          <a:prstGeom prst="roundRect">
            <a:avLst>
              <a:gd name="adj" fmla="val 3636"/>
            </a:avLst>
          </a:prstGeom>
          <a:solidFill>
            <a:srgbClr val="F8F9FA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6636" y="1828800"/>
            <a:ext cx="2011680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6636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6636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" y="32004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业务介绍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分钟)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02636" y="1828800"/>
            <a:ext cx="2011680" cy="2926080"/>
          </a:xfrm>
          <a:prstGeom prst="roundRect">
            <a:avLst>
              <a:gd name="adj" fmla="val 3636"/>
            </a:avLst>
          </a:prstGeom>
          <a:solidFill>
            <a:srgbClr val="F8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02636" y="1828800"/>
            <a:ext cx="2011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02636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02636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客户视角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39796" y="32004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搜机票 → 下单 → AI 助手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分钟)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88636" y="1828800"/>
            <a:ext cx="2011680" cy="2926080"/>
          </a:xfrm>
          <a:prstGeom prst="roundRect">
            <a:avLst>
              <a:gd name="adj" fmla="val 3636"/>
            </a:avLst>
          </a:prstGeom>
          <a:solidFill>
            <a:srgbClr val="F8F9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88636" y="1828800"/>
            <a:ext cx="20116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88636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88636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代理视角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25796" y="32004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团队管理 + 分成查看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分钟)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74636" y="1828800"/>
            <a:ext cx="2011680" cy="2926080"/>
          </a:xfrm>
          <a:prstGeom prst="roundRect">
            <a:avLst>
              <a:gd name="adj" fmla="val 3636"/>
            </a:avLst>
          </a:prstGeom>
          <a:solidFill>
            <a:srgbClr val="F8F9FA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74636" y="1828800"/>
            <a:ext cx="201168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74636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74636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管理员视角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11796" y="32004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订单批量 + 审计日志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 分钟)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60636" y="1828800"/>
            <a:ext cx="2011680" cy="2926080"/>
          </a:xfrm>
          <a:prstGeom prst="roundRect">
            <a:avLst>
              <a:gd name="adj" fmla="val 3636"/>
            </a:avLst>
          </a:prstGeom>
          <a:solidFill>
            <a:srgbClr val="F8F9FA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60636" y="1828800"/>
            <a:ext cx="2011680" cy="45720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60636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60636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收尾 + Q&amp;A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97796" y="32004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 + 反馈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分钟)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我们做的是什么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一句话：澳门 ↔ 岘港 自营航线 + 一站式旅游 SaaS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三个角色 · 三个界面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🛒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搜机票 / 酒店 / 接送 / 签证 / 套餐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助手对话下单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🤝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9728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代理（三级）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管下级代理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看自己 + 下级的分成结算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⚙️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9728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5212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订单管理 + 财务结算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定价 + 履约 + 审计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0" y="1783080"/>
            <a:ext cx="457200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1920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今天演示的 staging 环境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69480" y="2423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229600" y="2560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测试账号（admin / 三级代理 / 客户）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69480" y="32004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229600" y="3337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订单（覆盖全部状态）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69480" y="3977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22960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语言（中 / 英 / 越）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7548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229600" y="4892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元（沙盒支付，不会扣钱）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客户视角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搜机票 → 结账 → AI 助手下单 (10 分钟)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4206240"/>
            <a:ext cx="2743200" cy="0"/>
          </a:xfrm>
          <a:prstGeom prst="line">
            <a:avLst/>
          </a:prstGeom>
          <a:noFill/>
          <a:ln w="63500">
            <a:solidFill>
              <a:srgbClr val="F9E79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客户视角 · 三步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不登录也能搜，下单时才要登入；AI 助手是亮点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42316" y="1783080"/>
            <a:ext cx="3657600" cy="4389120"/>
          </a:xfrm>
          <a:prstGeom prst="roundRect">
            <a:avLst>
              <a:gd name="adj" fmla="val 2500"/>
            </a:avLst>
          </a:prstGeom>
          <a:solidFill>
            <a:srgbClr val="F8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6636" y="1874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16636" y="2514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搜机票（不登录）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16636" y="301752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首页五大块：机票/酒店/接送/签证/套餐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 MFM → DAD，点商务舱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动态价格 + 限时优惠标识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加购 → 进结账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65676" y="1783080"/>
            <a:ext cx="3657600" cy="4389120"/>
          </a:xfrm>
          <a:prstGeom prst="roundRect">
            <a:avLst>
              <a:gd name="adj" fmla="val 2500"/>
            </a:avLst>
          </a:prstGeom>
          <a:solidFill>
            <a:srgbClr val="F8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9996" y="1874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39996" y="2514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登入下单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39996" y="301752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 customer@ftm.local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填联系信息 + 乘客信息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乘客数 = 票数（少了系统拦）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沙盒支付成功 → 我的订单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89036" y="1783080"/>
            <a:ext cx="3657600" cy="4389120"/>
          </a:xfrm>
          <a:prstGeom prst="roundRect">
            <a:avLst>
              <a:gd name="adj" fmla="val 2500"/>
            </a:avLst>
          </a:prstGeom>
          <a:solidFill>
            <a:srgbClr val="F8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3356" y="1874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563356" y="2514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助手对话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63356" y="301752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「明天 2 个人去岘港，要往返」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给方案 + 价格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 OK · 看详情 → 确认下单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一句话搞定，不用打开 5 个页面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代理视角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团队管理 + 我的分成（核心新功能）(10 分钟)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4206240"/>
            <a:ext cx="2743200" cy="0"/>
          </a:xfrm>
          <a:prstGeom prst="line">
            <a:avLst/>
          </a:prstGeom>
          <a:noFill/>
          <a:ln w="63500">
            <a:solidFill>
              <a:srgbClr val="F96167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我的分成 · 核心新功能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按层级看自己 + 全部下级的结算单 + 佣金明细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93392"/>
            <a:ext cx="260604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57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我的应得佣金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260604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993392"/>
            <a:ext cx="260604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057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下级累计佣金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423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2606040" cy="16459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993392"/>
            <a:ext cx="260604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057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待打款金额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2423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823960" y="1828800"/>
            <a:ext cx="2606040" cy="1645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1993392"/>
            <a:ext cx="260604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2057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结算单总数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0" y="2423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32918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三级 RBAC：每个层级看到不同的范围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3756" y="37490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96796" y="3931920"/>
            <a:ext cx="731520" cy="7315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96796" y="39502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16636" y="4800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一级代理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6636" y="5212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 + 二级 + 三级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（看全网）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65676" y="37490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28716" y="3931920"/>
            <a:ext cx="731520" cy="73152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28716" y="39502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4448556" y="4800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二级代理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48556" y="5212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 + 三级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（看不到一级）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97596" y="37490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60636" y="393192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60636" y="39502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8380476" y="4800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三级代理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80476" y="5212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只看自己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（不看下级）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管理员视角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订单批量管理 + 审计日志中文化 (15 分钟)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4206240"/>
            <a:ext cx="2743200" cy="0"/>
          </a:xfrm>
          <a:prstGeom prst="line">
            <a:avLst/>
          </a:prstGeom>
          <a:noFill/>
          <a:ln w="635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订单批量改状态 · 核心新功能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一次最多 100 单；支持强制模式绕过状态机校验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支持的操作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表头全选 / 反选 / indeterminate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788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批量工具条选目标状态 + 应用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3291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行内"改状态…"下拉单条快改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强制模式（绕过状态机）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4297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失败明细面板（per-id 报错）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4800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所有操作进 audit log（WARNING）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178308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8F9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订单状态机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0" y="242316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423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待支付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0" y="306324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3063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已支付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0" y="370332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3703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处理中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434340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4343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已出票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0" y="498348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4983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0" y="4114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强制模式 = 绕过整个流程图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0" y="4434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（仅 ADMIN 可用，进 WARNING 审计）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审计日志中文化 · 核心新功能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后端记录的还是结构化数据；前端这层负责翻译成人话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改之前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FFF1F0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2316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BATCH_FORCE_ORDER_STATUS
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"toStatus":"PAID",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"force":true,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"requestedCount":3,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"successCount":3,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"failureCount":0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486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看不懂、没法 audit、找不到事故。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6364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改之后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224028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F0F9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42316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批量强制改状态
</a:t>
            </a:r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目标状态: 已支付
</a:t>
            </a:r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强制模式: 是（绕过状态机）
</a:t>
            </a:r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请求条数: 3
· 成功: 3
· 失败: 0
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5486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一眼看懂；点开抽屉有彩色 diff + 原始 JSON 折叠区。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成本核算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已花 ~$5,000；公测期月成本 ~$1,000；稳定期 ~$5,000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已花成本（开发期）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占 64% · 服务器 ~4% · 工具/其他 32%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21945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828800"/>
            <a:ext cx="12801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AI/Token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1828800"/>
            <a:ext cx="10972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0" y="1828800"/>
            <a:ext cx="9144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84080" y="1828800"/>
            <a:ext cx="10972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0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881360" y="1828800"/>
            <a:ext cx="8686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81360" y="18288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2194560"/>
            <a:ext cx="219456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A · 内部测试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2194560"/>
            <a:ext cx="128016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194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$20-50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2194560"/>
            <a:ext cx="109728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21945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9680" y="2194560"/>
            <a:ext cx="91440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5400" y="21945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784080" y="2194560"/>
            <a:ext cx="109728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9800" y="21945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881360" y="2194560"/>
            <a:ext cx="86868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27080" y="21945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97680" y="265176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3400" y="2651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B · 公测期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92240" y="265176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2651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$300-800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72400" y="265176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18120" y="2651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$80-120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869680" y="265176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15400" y="26517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$0-20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784080" y="265176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29800" y="2651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$130-220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881360" y="2651760"/>
            <a:ext cx="868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27080" y="26517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~$1,000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297680" y="3108960"/>
            <a:ext cx="219456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43400" y="3108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C · 稳定期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92240" y="3108960"/>
            <a:ext cx="128016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31089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$2K-5K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772400" y="3108960"/>
            <a:ext cx="109728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18120" y="31089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$200-300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869680" y="3108960"/>
            <a:ext cx="91440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15400" y="3108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$20-200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784080" y="3108960"/>
            <a:ext cx="109728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29800" y="31089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$630-1,130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881360" y="3108960"/>
            <a:ext cx="86868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927080" y="31089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~$5,000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57200" y="4114800"/>
            <a:ext cx="11274552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251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单位经济学（毛利 vs 成本）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33756" y="470916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6636" y="4800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公测期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16636" y="5074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月毛利 $3,900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16636" y="5349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月成本 $1,000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16636" y="5623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4×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4265676" y="470916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48556" y="4800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稳定期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448556" y="5074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月毛利 $42,000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448556" y="5349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月成本 $5,000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448556" y="5623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8×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8197596" y="470916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80476" y="4800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规模化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8380476" y="5074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月毛利 $220K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380476" y="5349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月成本 $10K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8380476" y="5623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22×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成本拆解 · 主要是 token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4.6：输入 $3 / 1M，输出 $15 / 1M。Prompt caching 可省 36%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8F9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单次对话成本（5 轮平均）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不带缓存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输入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10K tokens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 × $3 =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$0.030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输出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2.5K tokens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 × $15 =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$0.038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合计 ~$0.067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启用 prompt caching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缓存命中（90%）打 1 折 + 全价输入 + 输出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合计 ~$0.043 （省 36%）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实际经验值：$0.013 ~ $0.05 / 对话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8288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965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对话量 → 月成本（含缓存）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8388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2124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383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/ 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83880" y="3383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921240" y="3383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4160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/ 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83880" y="4160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$2,600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21240" y="4160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4937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/ 天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83880" y="4937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$6,500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921240" y="4937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规模化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怎么报问题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仓库 docs/presentation/week-2/FEEDBACK.docx → 紧急直接微信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" cy="77724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阻断公测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194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登入失败 / 下单按钮没反应 / 后台白屏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" cy="77724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4320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1732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严重缺陷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108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价格算错 / 状态流转出错 / 中文乱码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5760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1732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一般缺陷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023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错位 / 翻译不全 / loading 不消失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822960" cy="7772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57200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1732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改进建议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9377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文案不顺 / 按钮位置可优化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669280"/>
            <a:ext cx="11274552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每天 EOD 看一次 → 改一波 → 周末重 deploy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2286000" cy="0"/>
          </a:xfrm>
          <a:prstGeom prst="line">
            <a:avLst/>
          </a:prstGeom>
          <a:noFill/>
          <a:ln w="508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一句话给团队听：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112745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前期开发烧了 ~$5,000，主要是 AI 调用。
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公测期月成本 ~$1,000；稳定后 ~$5,000。
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公测预计 100 单/月，月毛利 ~$3,900，覆盖成本 4×。
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26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关键不是控成本，是订单量做起来。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Wang  ·  2026-04-29  ·  staging http://47.83.249.163/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世途旅行 Citur Travel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世途旅行 · Week 2 Demo</dc:title>
  <dc:subject>PptxGenJS Presentation</dc:subject>
  <dc:creator>Bob Wang</dc:creator>
  <cp:lastModifiedBy>Bob Wang</cp:lastModifiedBy>
  <cp:revision>1</cp:revision>
  <dcterms:created xsi:type="dcterms:W3CDTF">2026-04-30T05:03:49Z</dcterms:created>
  <dcterms:modified xsi:type="dcterms:W3CDTF">2026-04-30T05:03:49Z</dcterms:modified>
</cp:coreProperties>
</file>